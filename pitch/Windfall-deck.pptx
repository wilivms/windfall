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1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1000"/>
            <a:ext cx="666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262"/>
                </a:solidFill>
                <a:latin typeface="IBM Plex Mono"/>
              </a:rPr>
              <a:t>ACCEL AI INNOVATE PARIS · DATA-CENTRIC AGENTS ·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47750"/>
            <a:ext cx="11430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2F2B22"/>
                </a:solidFill>
                <a:latin typeface="Arial"/>
              </a:rPr>
              <a:t>WINDFALL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857500"/>
            <a:ext cx="952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E5747"/>
                </a:solidFill>
                <a:latin typeface="IBM Plex Mono"/>
              </a:rPr>
              <a:t>Use power when the grid is </a:t>
            </a:r>
            <a:r>
              <a:rPr sz="1600" b="1">
                <a:solidFill>
                  <a:srgbClr val="1E7A3C"/>
                </a:solidFill>
                <a:latin typeface="IBM Plex Mono"/>
              </a:rPr>
              <a:t>full of sun and wind.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543300"/>
            <a:ext cx="7620000" cy="219075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354330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54330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91700" y="354330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86950" y="354330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571500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56197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91700" y="571500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86950" y="56197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76500" y="3657600"/>
            <a:ext cx="5715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A7262"/>
                </a:solidFill>
                <a:latin typeface="IBM Plex Mono"/>
              </a:rPr>
              <a:t>DAY-AHEAD PRICE · FRANCE · REAL DATA (ENERGY-CHARTS)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55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955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955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955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955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955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955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955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955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955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55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955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955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955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00350" y="54102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00350" y="52959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00350" y="5181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00350" y="5067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003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003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003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003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003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003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003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003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003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003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05150" y="54102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05150" y="52959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05150" y="51816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05150" y="5067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051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051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051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051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051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051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051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051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051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051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09950" y="54102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09950" y="52959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09950" y="51816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09950" y="5067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099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4099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099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099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099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099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099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099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099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099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7147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7147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147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7147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147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147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7147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7147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7147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7147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147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7147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7147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7147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0195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195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0195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0195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019550" y="49530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019550" y="48387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195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0195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195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0195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0195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0195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0195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0195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24350" y="54102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24350" y="52959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324350" y="51816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24350" y="50673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324350" y="49530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324350" y="48387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324350" y="47244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324350" y="46101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324350" y="44958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324350" y="43815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243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3243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3243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3243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29150" y="54102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629150" y="52959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29150" y="51816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629150" y="50673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629150" y="49530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629150" y="48387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629150" y="47244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629150" y="46101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629150" y="44958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629150" y="43815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629150" y="42672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629150" y="41529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629150" y="40386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6291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33950" y="54102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933950" y="52959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933950" y="51816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933950" y="50673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933950" y="49530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933950" y="48387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933950" y="47244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933950" y="46101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33950" y="44958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33950" y="43815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33950" y="42672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33950" y="41529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9339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339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87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87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2387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87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238750" y="49530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238750" y="48387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238750" y="47244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238750" y="46101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2387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2387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2387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2387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2387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2387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5435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5435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5435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5435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543550" y="49530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543550" y="48387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5435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5435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5435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5435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5435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5435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5435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5435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8483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58483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58483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58483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848350" y="49530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8483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58483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58483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58483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58483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58483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8483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58483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58483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1531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1531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1531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531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1531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531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1531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1531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1531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1531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1531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1531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1531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1531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457950" y="54102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457950" y="52959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457950" y="51816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457950" y="5067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4579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4579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64579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4579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4579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4579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4579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4579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4579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579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762750" y="54102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762750" y="52959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762750" y="51816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62750" y="5067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627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627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627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7627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627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7627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7627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7627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7627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7627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0675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0675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0675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0675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0675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0675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0675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0675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70675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0675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0675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0675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0675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0675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3723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3723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3723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3723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7372350" y="49530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3723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3723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3723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3723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3723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3723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3723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3723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3723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76771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6771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6771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76771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7677150" y="49530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7677150" y="48387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76771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6771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76771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76771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76771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76771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6771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6771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79819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9819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79819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9819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7981950" y="49530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7981950" y="48387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7981950" y="47244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981950" y="46101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7981950" y="44958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79819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79819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79819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79819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9819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8286750" y="54102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286750" y="52959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8286750" y="51816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8286750" y="50673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8286750" y="49530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8286750" y="48387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8286750" y="47244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8286750" y="46101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8286750" y="44958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8286750" y="43815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286750" y="42672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286750" y="41529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82867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82867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8591550" y="54102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8591550" y="52959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591550" y="51816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8591550" y="50673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591550" y="49530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8591550" y="48387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591550" y="47244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591550" y="46101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8591550" y="44958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8591550" y="43815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8591550" y="4267200"/>
            <a:ext cx="27622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85915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85915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85915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88963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88963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88963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88963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896350" y="49530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8896350" y="48387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8896350" y="47244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8896350" y="46101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88963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8963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88963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8963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88963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88963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9201150" y="54102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9201150" y="52959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9201150" y="51816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9201150" y="5067300"/>
            <a:ext cx="276225" cy="762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92011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2011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92011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2011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92011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92011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92011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92011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92011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92011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9505950" y="5410200"/>
            <a:ext cx="2762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9505950" y="5295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9505950" y="5181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9505950" y="5067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9505950" y="49530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9505950" y="48387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9505950" y="47244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9505950" y="46101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9505950" y="44958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505950" y="43815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9505950" y="42672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9505950" y="41529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9505950" y="40386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9505950" y="3924300"/>
            <a:ext cx="276225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2476500" y="5581650"/>
            <a:ext cx="7239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E7A3C"/>
                </a:solidFill>
                <a:latin typeface="IBM Plex Mono"/>
              </a:rPr>
              <a:t>■ </a:t>
            </a:r>
            <a:r>
              <a:rPr sz="750" b="0">
                <a:solidFill>
                  <a:srgbClr val="7A7262"/>
                </a:solidFill>
                <a:latin typeface="IBM Plex Mono"/>
              </a:rPr>
              <a:t>cheapest hours: Windfall loads here    </a:t>
            </a:r>
            <a:r>
              <a:rPr sz="750" b="0">
                <a:solidFill>
                  <a:srgbClr val="B4441A"/>
                </a:solidFill>
                <a:latin typeface="IBM Plex Mono"/>
              </a:rPr>
              <a:t>■ </a:t>
            </a:r>
            <a:r>
              <a:rPr sz="750" b="0">
                <a:solidFill>
                  <a:srgbClr val="7A7262"/>
                </a:solidFill>
                <a:latin typeface="IBM Plex Mono"/>
              </a:rPr>
              <a:t>evening peak: Windfall avoids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57200" y="6096000"/>
            <a:ext cx="11277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F2B22"/>
                </a:solidFill>
                <a:latin typeface="IBM Plex Mono"/>
              </a:rPr>
              <a:t>Five AI agents that move a small business’s flexible load into the cheapest, cleanest hours — and never break the cold chain.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1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57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2B22"/>
                </a:solidFill>
                <a:latin typeface="Arial"/>
              </a:rPr>
              <a:t>WINDFALL</a:t>
            </a:r>
            <a:r>
              <a:rPr sz="850" b="0">
                <a:solidFill>
                  <a:srgbClr val="7A7262"/>
                </a:solidFill>
                <a:latin typeface="IBM Plex Mono"/>
              </a:rPr>
              <a:t>   │  ENERGY AUTOPILOT FOR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304800"/>
            <a:ext cx="4305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E7A3C"/>
                </a:solidFill>
                <a:latin typeface="IBM Plex Mono"/>
              </a:rPr>
              <a:t>02 /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2950"/>
            <a:ext cx="11239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1">
                <a:solidFill>
                  <a:srgbClr val="2F2B22"/>
                </a:solidFill>
                <a:latin typeface="Arial"/>
              </a:rPr>
              <a:t>SMES PAY PEAK PRICES</a:t>
            </a:r>
          </a:p>
          <a:p>
            <a:pPr algn="l">
              <a:lnSpc>
                <a:spcPct val="90000"/>
              </a:lnSpc>
            </a:pPr>
            <a:r>
              <a:rPr sz="4000" b="1">
                <a:solidFill>
                  <a:srgbClr val="1E7A3C"/>
                </a:solidFill>
                <a:latin typeface="Arial"/>
              </a:rPr>
              <a:t>FOR POWER THEY COULD SHIFT.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95550"/>
            <a:ext cx="3657600" cy="2381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2667000"/>
            <a:ext cx="3333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E7A3C"/>
                </a:solidFill>
                <a:latin typeface="IBM Plex Mono"/>
              </a:rPr>
              <a:t>[ 01 ] THE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933700"/>
            <a:ext cx="3295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F2B22"/>
                </a:solidFill>
                <a:latin typeface="IBM Plex Mono"/>
              </a:rPr>
              <a:t>Every sunny noon France has so much solar that prices fall, sometimes below zero (23 negative-price hours in our 41-day sample). Every evening at 7 pm the grid burns gas and prices peak.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2495550"/>
            <a:ext cx="3657600" cy="2381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7700" y="2667000"/>
            <a:ext cx="3333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E7A3C"/>
                </a:solidFill>
                <a:latin typeface="IBM Plex Mono"/>
              </a:rPr>
              <a:t>[ 02 ] THE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2933700"/>
            <a:ext cx="3295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F2B22"/>
                </a:solidFill>
                <a:latin typeface="IBM Plex Mono"/>
              </a:rPr>
              <a:t>A cold store keeps freezers on a thermostat and plugs its electric vans in at 6 pm. Everything draws power at the same expensive, dirty hour: 156 kW against a 110 kW subscription.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0" y="2495550"/>
            <a:ext cx="3657600" cy="2381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7700" y="2667000"/>
            <a:ext cx="3333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E7A3C"/>
                </a:solidFill>
                <a:latin typeface="IBM Plex Mono"/>
              </a:rPr>
              <a:t>[ 03 ] THE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700" y="2933700"/>
            <a:ext cx="3295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F2B22"/>
                </a:solidFill>
                <a:latin typeface="IBM Plex Mono"/>
              </a:rPr>
              <a:t>Big industrials have energy traders and demand-response contracts. SMEs have flexible load — inertia in their cold rooms, idle hours on their chargers — and nobody to use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67300"/>
            <a:ext cx="11277600" cy="114300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5219700"/>
            <a:ext cx="10858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7A3C"/>
                </a:solidFill>
                <a:latin typeface="IBM Plex Mono"/>
              </a:rPr>
              <a:t>The insight  </a:t>
            </a:r>
            <a:r>
              <a:rPr sz="1300" b="0">
                <a:solidFill>
                  <a:srgbClr val="2F2B22"/>
                </a:solidFill>
                <a:latin typeface="IBM Plex Mono"/>
              </a:rPr>
              <a:t>A freezer doesn’t care when it runs, as long as the food stays below −18 °C. A van doesn’t care when it charges, as long as it’s full at 6 am. That flexibility is worth ~20% of the bill — and a sixth of the carbon.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B9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A7262"/>
                </a:solidFill>
                <a:latin typeface="IBM Plex Mono"/>
              </a:rPr>
              <a:t>Accel AI Innovate Paris · Data-Centric Agents · built on Aiven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0" y="6534150"/>
            <a:ext cx="31623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>
                <a:solidFill>
                  <a:srgbClr val="1E7A3C"/>
                </a:solidFill>
                <a:latin typeface="IBM Plex Mono"/>
              </a:rPr>
              <a:t>01a162cc-…-8080.eur-1.aiven.app 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1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57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2B22"/>
                </a:solidFill>
                <a:latin typeface="Arial"/>
              </a:rPr>
              <a:t>WINDFALL</a:t>
            </a:r>
            <a:r>
              <a:rPr sz="850" b="0">
                <a:solidFill>
                  <a:srgbClr val="7A7262"/>
                </a:solidFill>
                <a:latin typeface="IBM Plex Mono"/>
              </a:rPr>
              <a:t>   │  ENERGY AUTOPILOT FOR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304800"/>
            <a:ext cx="4305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E7A3C"/>
                </a:solidFill>
                <a:latin typeface="IBM Plex Mono"/>
              </a:rPr>
              <a:t>03 /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2950"/>
            <a:ext cx="11239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1">
                <a:solidFill>
                  <a:srgbClr val="2F2B22"/>
                </a:solidFill>
                <a:latin typeface="Arial"/>
              </a:rPr>
              <a:t>FIVE AGENTS,</a:t>
            </a:r>
          </a:p>
          <a:p>
            <a:pPr algn="l">
              <a:lnSpc>
                <a:spcPct val="90000"/>
              </a:lnSpc>
            </a:pPr>
            <a:r>
              <a:rPr sz="4000" b="1">
                <a:solidFill>
                  <a:srgbClr val="1E7A3C"/>
                </a:solidFill>
                <a:latin typeface="Arial"/>
              </a:rPr>
              <a:t>ONE SITE.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95550"/>
            <a:ext cx="2181225" cy="3143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628900"/>
            <a:ext cx="1905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[ 01 / FCST 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532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05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677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25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22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2395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967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954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532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0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677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250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822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239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9675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9540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532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05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677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25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822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3950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967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954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532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050" y="311467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677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25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8225" y="311467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2395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967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954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532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105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677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2500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822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2395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0967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9540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9600" y="32861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532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10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677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250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822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239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0967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9540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960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5325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105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66775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250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38225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2395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209675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29540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9600" y="34575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5325" y="34575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1050" y="34575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66775" y="34575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2500" y="34575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38225" y="34575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23950" y="34575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209675" y="34575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95400" y="34575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9600" y="3676650"/>
            <a:ext cx="190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F2B22"/>
                </a:solidFill>
                <a:latin typeface="Arial"/>
              </a:rPr>
              <a:t>Forecaster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9600" y="4000500"/>
            <a:ext cx="18859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E5747"/>
                </a:solidFill>
                <a:latin typeface="IBM Plex Mono"/>
              </a:rPr>
              <a:t>Finds the most similar past days in a pgvector memory and forecasts price and grid carbon 2 days ahead.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14625" y="2495550"/>
            <a:ext cx="2181225" cy="3143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67025" y="2628900"/>
            <a:ext cx="1905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[ 02 / PLN 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867025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952750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38475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1242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20992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9565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38137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671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55282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86702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9527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03847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124200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209925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295650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38137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46710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55282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86702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95275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03847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1242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20992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9565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38137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467100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55282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86702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95275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03847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1242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20992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9565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38137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4671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282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867025" y="3200400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952750" y="3200400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038475" y="3200400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12420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20992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29565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38137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46710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55282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86702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9527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03847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124200" y="328612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209925" y="328612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295650" y="328612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38137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46710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55282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867025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95275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038475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12420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209925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29565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381375" y="3371850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467100" y="3371850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552825" y="3371850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86702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95275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03847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12420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20992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29565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38137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46710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55282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867025" y="3676650"/>
            <a:ext cx="190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F2B22"/>
                </a:solidFill>
                <a:latin typeface="Arial"/>
              </a:rPr>
              <a:t>Planner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867025" y="4000500"/>
            <a:ext cx="18859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E5747"/>
                </a:solidFill>
                <a:latin typeface="IBM Plex Mono"/>
              </a:rPr>
              <a:t>Dynamic programming over cold-room temperatures and van charging under hard limits. Claude writes the plan.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72050" y="2495550"/>
            <a:ext cx="2181225" cy="3143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124450" y="2628900"/>
            <a:ext cx="1905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[ 03 / WCH ]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12445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21017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2959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381625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467350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553075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388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72452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81025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1244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21017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5295900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538162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54673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55307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638800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572452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58102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512445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521017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52959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38162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5467350" y="3028950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555307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6388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72452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81025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12445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210175" y="311467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2959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381625" y="31146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467350" y="31146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553075" y="311467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6388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724525" y="311467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81025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2445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1017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9590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8162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67350" y="3200400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5307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3880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2452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025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1244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21017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295900" y="32861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38162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4673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55307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638800" y="32861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72452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58102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12445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210175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529590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38162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467350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55307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63880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724525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81025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12445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21017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29590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38162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735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555307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63880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72452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81025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124450" y="3676650"/>
            <a:ext cx="190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F2B22"/>
                </a:solidFill>
                <a:latin typeface="Arial"/>
              </a:rPr>
              <a:t>Watcher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124450" y="4000500"/>
            <a:ext cx="18859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E5747"/>
                </a:solidFill>
                <a:latin typeface="IBM Plex Mono"/>
              </a:rPr>
              <a:t>Consumes the Kafka telemetry stream. Door left open, van back late: replans the day in seconds.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229475" y="2495550"/>
            <a:ext cx="2181225" cy="3143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7381875" y="2628900"/>
            <a:ext cx="1905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[ 04 / LRN 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381875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4676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55332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63905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72477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8105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89622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98195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067675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381875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467600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55332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6390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72477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81050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89622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9819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06767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738187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4676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55332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763905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772477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78105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789622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98195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067675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7381875" y="311467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74676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755332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639050" y="311467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724775" y="311467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78105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89622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798195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806767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738187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746760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755332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63905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772477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7810500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789622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7981950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8067675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381875" y="32861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746760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755332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76390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72477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81050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89622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9819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8067675" y="328612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738187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467600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55332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7639050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772477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810500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789622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981950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06767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38187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746760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755332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763905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772477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781050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789622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798195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806767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7381875" y="3676650"/>
            <a:ext cx="190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F2B22"/>
                </a:solidFill>
                <a:latin typeface="Arial"/>
              </a:rPr>
              <a:t>Learner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7381875" y="4000500"/>
            <a:ext cx="18859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E5747"/>
                </a:solidFill>
                <a:latin typeface="IBM Plex Mono"/>
              </a:rPr>
              <a:t>Re-fits each cold room’s thermal model every night from ClickHouse history. Gets measurably better.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486900" y="2495550"/>
            <a:ext cx="2181225" cy="3143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9639300" y="2628900"/>
            <a:ext cx="1905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[ 05 / AUD ]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96393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9725025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9810750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9896475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9982200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067925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53650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239375" y="28575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325100" y="28575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963930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9725025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98107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989647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998220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067925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15365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39375" y="29432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325100" y="29432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96393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72502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981075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989647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9982200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06792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15365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39375" y="30289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325100" y="30289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96393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9725025" y="311467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981075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989647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99822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067925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15365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239375" y="311467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325100" y="31146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963930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972502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981075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989647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9982200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06792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15365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239375" y="320040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325100" y="320040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963930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9725025" y="32861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98107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9896475" y="328612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9982200" y="3286125"/>
            <a:ext cx="66675" cy="66675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067925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15365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239375" y="3286125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325100" y="328612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963930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72502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810750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989647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9982200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06792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153650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239375" y="3371850"/>
            <a:ext cx="66675" cy="66675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325100" y="3371850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963930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972502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81075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989647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998220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06792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15365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239375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325100" y="3457575"/>
            <a:ext cx="66675" cy="66675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9639300" y="3676650"/>
            <a:ext cx="190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F2B22"/>
                </a:solidFill>
                <a:latin typeface="Arial"/>
              </a:rPr>
              <a:t>Auditor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9639300" y="4000500"/>
            <a:ext cx="18859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E5747"/>
                </a:solidFill>
                <a:latin typeface="IBM Plex Mono"/>
              </a:rPr>
              <a:t>Logs every decision to OpenSearch and drafts the CSRD carbon note.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457200" y="5829300"/>
            <a:ext cx="11277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7A3C"/>
                </a:solidFill>
                <a:latin typeface="IBM Plex Mono"/>
              </a:rPr>
              <a:t>Claude explains, the maths decides. </a:t>
            </a:r>
            <a:r>
              <a:rPr sz="1100" b="0">
                <a:solidFill>
                  <a:srgbClr val="2F2B22"/>
                </a:solidFill>
                <a:latin typeface="IBM Plex Mono"/>
              </a:rPr>
              <a:t>Optimisation is deterministic and auditable; Claude turns it into plans and explanations a site manager reads. Keenable brings grid news to the Planner.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B9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A7262"/>
                </a:solidFill>
                <a:latin typeface="IBM Plex Mono"/>
              </a:rPr>
              <a:t>Accel AI Innovate Paris · Data-Centric Agents · built on Aiven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8572500" y="6534150"/>
            <a:ext cx="31623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>
                <a:solidFill>
                  <a:srgbClr val="1E7A3C"/>
                </a:solidFill>
                <a:latin typeface="IBM Plex Mono"/>
              </a:rPr>
              <a:t>01a162cc-…-8080.eur-1.aiven.app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1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57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2B22"/>
                </a:solidFill>
                <a:latin typeface="Arial"/>
              </a:rPr>
              <a:t>WINDFALL</a:t>
            </a:r>
            <a:r>
              <a:rPr sz="850" b="0">
                <a:solidFill>
                  <a:srgbClr val="7A7262"/>
                </a:solidFill>
                <a:latin typeface="IBM Plex Mono"/>
              </a:rPr>
              <a:t>   │  ENERGY AUTOPILOT FOR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304800"/>
            <a:ext cx="4305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E7A3C"/>
                </a:solidFill>
                <a:latin typeface="IBM Plex Mono"/>
              </a:rPr>
              <a:t>04 / THE 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2950"/>
            <a:ext cx="11239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1">
                <a:solidFill>
                  <a:srgbClr val="2F2B22"/>
                </a:solidFill>
                <a:latin typeface="Arial"/>
              </a:rPr>
              <a:t>GROUNDED IN DATA,</a:t>
            </a:r>
          </a:p>
          <a:p>
            <a:pPr algn="l">
              <a:lnSpc>
                <a:spcPct val="90000"/>
              </a:lnSpc>
            </a:pPr>
            <a:r>
              <a:rPr sz="4000" b="1">
                <a:solidFill>
                  <a:srgbClr val="1E7A3C"/>
                </a:solidFill>
                <a:latin typeface="Arial"/>
              </a:rPr>
              <a:t>ON AIVEN.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95550"/>
            <a:ext cx="2743200" cy="377190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550" y="2609850"/>
            <a:ext cx="24765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[ 01 ]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50" y="2838450"/>
            <a:ext cx="2476500" cy="704850"/>
          </a:xfrm>
          <a:prstGeom prst="rect">
            <a:avLst/>
          </a:prstGeom>
          <a:solidFill>
            <a:srgbClr val="E9E1CD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29337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Energy-Charts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31432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FR day-ahead prices + generation by fuel → hourly grid carbon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550" y="3676650"/>
            <a:ext cx="2476500" cy="704850"/>
          </a:xfrm>
          <a:prstGeom prst="rect">
            <a:avLst/>
          </a:prstGeom>
          <a:solidFill>
            <a:srgbClr val="E9E1CD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850" y="37719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Open-Meteo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9814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Temperature at the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550" y="4514850"/>
            <a:ext cx="2476500" cy="704850"/>
          </a:xfrm>
          <a:prstGeom prst="rect">
            <a:avLst/>
          </a:prstGeom>
          <a:solidFill>
            <a:srgbClr val="E9E1CD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46101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Keenable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48196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Grid news &amp;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0550" y="5353050"/>
            <a:ext cx="2476500" cy="704850"/>
          </a:xfrm>
          <a:prstGeom prst="rect">
            <a:avLst/>
          </a:prstGeom>
          <a:solidFill>
            <a:srgbClr val="E9E1CD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54483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Site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56578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Rooms, chargers, meter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5650" y="2495550"/>
            <a:ext cx="2743200" cy="377190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609850"/>
            <a:ext cx="24765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[ 02 ] STREAM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838450"/>
            <a:ext cx="2476500" cy="704850"/>
          </a:xfrm>
          <a:prstGeom prst="rect">
            <a:avLst/>
          </a:prstGeom>
          <a:solidFill>
            <a:srgbClr val="EFE8D6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34000" y="2781300"/>
            <a:ext cx="457200" cy="1143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0" y="2781300"/>
            <a:ext cx="457200" cy="114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E9E1CD"/>
                </a:solidFill>
                <a:latin typeface="IBM Plex Mono"/>
              </a:rPr>
              <a:t>AIVEN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3300" y="29337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Kafka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3300" y="31432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site.telemetry · agent.decisions → Watcher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676650"/>
            <a:ext cx="2476500" cy="704850"/>
          </a:xfrm>
          <a:prstGeom prst="rect">
            <a:avLst/>
          </a:prstGeom>
          <a:solidFill>
            <a:srgbClr val="EFE8D6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34000" y="3619500"/>
            <a:ext cx="457200" cy="1143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4000" y="3619500"/>
            <a:ext cx="457200" cy="114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E9E1CD"/>
                </a:solidFill>
                <a:latin typeface="IBM Plex Mono"/>
              </a:rPr>
              <a:t>AIVEN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3300" y="37719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Valkey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3300" y="39814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Live site state · windfall:events bus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34100" y="2495550"/>
            <a:ext cx="2743200" cy="377190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7450" y="2609850"/>
            <a:ext cx="24765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[ 03 ] MEMORY &amp; HISTORY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7450" y="2838450"/>
            <a:ext cx="2476500" cy="704850"/>
          </a:xfrm>
          <a:prstGeom prst="rect">
            <a:avLst/>
          </a:prstGeom>
          <a:solidFill>
            <a:srgbClr val="EFE8D6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72450" y="2781300"/>
            <a:ext cx="457200" cy="1143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2450" y="2781300"/>
            <a:ext cx="457200" cy="114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E9E1CD"/>
                </a:solidFill>
                <a:latin typeface="IBM Plex Mono"/>
              </a:rPr>
              <a:t>AIVEN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750" y="29337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ClickHouse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1750" y="31432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Market history, telemetry, backtests → Learner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7450" y="3676650"/>
            <a:ext cx="2476500" cy="704850"/>
          </a:xfrm>
          <a:prstGeom prst="rect">
            <a:avLst/>
          </a:prstGeom>
          <a:solidFill>
            <a:srgbClr val="EFE8D6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72450" y="3619500"/>
            <a:ext cx="457200" cy="1143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2450" y="3619500"/>
            <a:ext cx="457200" cy="114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E9E1CD"/>
                </a:solidFill>
                <a:latin typeface="IBM Plex Mono"/>
              </a:rPr>
              <a:t>AIVEN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1750" y="37719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PostgreSQL + pgvector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1750" y="39814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Assets, learned physics, vector memory of every past day → Forecaster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7450" y="4514850"/>
            <a:ext cx="2476500" cy="704850"/>
          </a:xfrm>
          <a:prstGeom prst="rect">
            <a:avLst/>
          </a:prstGeom>
          <a:solidFill>
            <a:srgbClr val="EFE8D6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72450" y="4457700"/>
            <a:ext cx="457200" cy="1143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2450" y="4457700"/>
            <a:ext cx="457200" cy="114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E9E1CD"/>
                </a:solidFill>
                <a:latin typeface="IBM Plex Mono"/>
              </a:rPr>
              <a:t>AIVEN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1750" y="46101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OpenSearch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1750" y="48196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Full-text audit of every decision → Auditor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72550" y="2495550"/>
            <a:ext cx="2743200" cy="377190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05900" y="2609850"/>
            <a:ext cx="24765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[ 04 ] RUNS 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05900" y="2838450"/>
            <a:ext cx="2476500" cy="704850"/>
          </a:xfrm>
          <a:prstGeom prst="rect">
            <a:avLst/>
          </a:prstGeom>
          <a:solidFill>
            <a:srgbClr val="EFE8D6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010900" y="2781300"/>
            <a:ext cx="457200" cy="1143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10900" y="2781300"/>
            <a:ext cx="457200" cy="114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E9E1CD"/>
                </a:solidFill>
                <a:latin typeface="IBM Plex Mono"/>
              </a:rPr>
              <a:t>AIVEN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20200" y="29337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Aiven Runtime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20200" y="31432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App built from GitHub; service credentials injected automatically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05900" y="3676650"/>
            <a:ext cx="2476500" cy="704850"/>
          </a:xfrm>
          <a:prstGeom prst="rect">
            <a:avLst/>
          </a:prstGeom>
          <a:solidFill>
            <a:srgbClr val="E9E1CD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20200" y="3771900"/>
            <a:ext cx="2247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2B22"/>
                </a:solidFill>
                <a:latin typeface="Arial"/>
              </a:rPr>
              <a:t>Graceful degradation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20200" y="3981450"/>
            <a:ext cx="2247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Any store missing → app keeps running, /api/health says what is live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B9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A7262"/>
                </a:solidFill>
                <a:latin typeface="IBM Plex Mono"/>
              </a:rPr>
              <a:t>Accel AI Innovate Paris · Data-Centric Agents · built on Aiven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72500" y="6534150"/>
            <a:ext cx="31623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>
                <a:solidFill>
                  <a:srgbClr val="1E7A3C"/>
                </a:solidFill>
                <a:latin typeface="IBM Plex Mono"/>
              </a:rPr>
              <a:t>01a162cc-…-8080.eur-1.aiven.app 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1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57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2B22"/>
                </a:solidFill>
                <a:latin typeface="Arial"/>
              </a:rPr>
              <a:t>WINDFALL</a:t>
            </a:r>
            <a:r>
              <a:rPr sz="850" b="0">
                <a:solidFill>
                  <a:srgbClr val="7A7262"/>
                </a:solidFill>
                <a:latin typeface="IBM Plex Mono"/>
              </a:rPr>
              <a:t>   │  ENERGY AUTOPILOT FOR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304800"/>
            <a:ext cx="4305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E7A3C"/>
                </a:solidFill>
                <a:latin typeface="IBM Plex Mono"/>
              </a:rPr>
              <a:t>05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2950"/>
            <a:ext cx="11239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1">
                <a:solidFill>
                  <a:srgbClr val="2F2B22"/>
                </a:solidFill>
                <a:latin typeface="Arial"/>
              </a:rPr>
              <a:t>41 REAL DAYS,</a:t>
            </a:r>
          </a:p>
          <a:p>
            <a:pPr algn="l">
              <a:lnSpc>
                <a:spcPct val="90000"/>
              </a:lnSpc>
            </a:pPr>
            <a:r>
              <a:rPr sz="4000" b="1">
                <a:solidFill>
                  <a:srgbClr val="1E7A3C"/>
                </a:solidFill>
                <a:latin typeface="Arial"/>
              </a:rPr>
              <a:t>REPLAYED.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2150"/>
            <a:ext cx="11277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5747"/>
                </a:solidFill>
                <a:latin typeface="IBM Plex Mono"/>
              </a:rPr>
              <a:t>Real French market data (Energy-Charts + Open-Meteo), same site, same weather. Naive = thermostat + vans charge when plugged in.  </a:t>
            </a:r>
            <a:r>
              <a:rPr sz="800" b="1">
                <a:solidFill>
                  <a:srgbClr val="7A7262"/>
                </a:solidFill>
                <a:latin typeface="IBM Plex Mono"/>
              </a:rPr>
              <a:t>RECORDED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24100"/>
            <a:ext cx="2743200" cy="161925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2495550"/>
            <a:ext cx="2476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E7A3C"/>
                </a:solidFill>
                <a:latin typeface="Arial"/>
              </a:rPr>
              <a:t>−21.8%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31432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262"/>
                </a:solidFill>
                <a:latin typeface="IBM Plex Mono"/>
              </a:rPr>
              <a:t>ENERGY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3352800"/>
            <a:ext cx="24384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F2B22"/>
                </a:solidFill>
                <a:latin typeface="IBM Plex Mono"/>
              </a:rPr>
              <a:t>€7,180 → €5,615 · ≈ €13.9k / yr /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5650" y="2324100"/>
            <a:ext cx="2743200" cy="161925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7100" y="2495550"/>
            <a:ext cx="2476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E7A3C"/>
                </a:solidFill>
                <a:latin typeface="Arial"/>
              </a:rPr>
              <a:t>−17.4%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7100" y="31432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262"/>
                </a:solidFill>
                <a:latin typeface="IBM Plex Mono"/>
              </a:rPr>
              <a:t>CO₂, LOCATION-BASED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7100" y="3352800"/>
            <a:ext cx="24384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F2B22"/>
                </a:solidFill>
                <a:latin typeface="IBM Plex Mono"/>
              </a:rPr>
              <a:t>1,704 → 1,408 kg · 2.6 t / yr / 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4100" y="2324100"/>
            <a:ext cx="2743200" cy="161925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2495550"/>
            <a:ext cx="2476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F2B22"/>
                </a:solidFill>
                <a:latin typeface="Arial"/>
              </a:rPr>
              <a:t>0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550" y="31432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262"/>
                </a:solidFill>
                <a:latin typeface="IBM Plex Mono"/>
              </a:rPr>
              <a:t>ABOVE 110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5550" y="3352800"/>
            <a:ext cx="24384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F2B22"/>
                </a:solidFill>
                <a:latin typeface="IBM Plex Mono"/>
              </a:rPr>
              <a:t>naive: 62 h · peak 156 → 101 kW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2550" y="2324100"/>
            <a:ext cx="2743200" cy="161925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495550"/>
            <a:ext cx="2476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F2B22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1432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262"/>
                </a:solidFill>
                <a:latin typeface="IBM Plex Mono"/>
              </a:rPr>
              <a:t>COLD-CHAIN BREACHES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352800"/>
            <a:ext cx="24384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F2B22"/>
                </a:solidFill>
                <a:latin typeface="IBM Plex Mono"/>
              </a:rPr>
              <a:t>100% of vans ready at 06:00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5581650" cy="21526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650" y="4267200"/>
            <a:ext cx="5238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E7A3C"/>
                </a:solidFill>
                <a:latin typeface="IBM Plex Mono"/>
              </a:rPr>
              <a:t>[ LRN ] THE LEARNER GETS BETTER EVERY NIGHT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" y="4514850"/>
            <a:ext cx="5238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F2B22"/>
                </a:solidFill>
                <a:latin typeface="Arial"/>
              </a:rPr>
              <a:t>88% → 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" y="5105400"/>
            <a:ext cx="523875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E5747"/>
                </a:solidFill>
                <a:latin typeface="IBM Plex Mono"/>
              </a:rPr>
              <a:t>Cold-room model error, first vs last week. Safety overrides fall from 10.8 to 0.2 per day as the Learner re-fits each room’s physics from ClickHouse history.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3150" y="4114800"/>
            <a:ext cx="5581650" cy="21526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4600" y="4267200"/>
            <a:ext cx="5238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E7A3C"/>
                </a:solidFill>
                <a:latin typeface="IBM Plex Mono"/>
              </a:rPr>
              <a:t>[ FCST ] FORECASTER vs "SAME AS 2 DAYS AGO"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600" y="4552950"/>
            <a:ext cx="381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F2B22"/>
                </a:solidFill>
                <a:latin typeface="IBM Plex Mono"/>
              </a:rPr>
              <a:t>Price · persistence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0" y="4552950"/>
            <a:ext cx="20383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2F2B22"/>
                </a:solidFill>
                <a:latin typeface="IBM Plex Mono"/>
              </a:rPr>
              <a:t>50.3 €/MWh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600" y="4724400"/>
            <a:ext cx="5238750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4600" y="4724400"/>
            <a:ext cx="479107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4600" y="4953000"/>
            <a:ext cx="381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F2B22"/>
                </a:solidFill>
                <a:latin typeface="IBM Plex Mono"/>
              </a:rPr>
              <a:t>Price · pgvector analog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4953000"/>
            <a:ext cx="20383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2F2B22"/>
                </a:solidFill>
                <a:latin typeface="IBM Plex Mono"/>
              </a:rPr>
              <a:t>40.9 €/MWh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4600" y="5124450"/>
            <a:ext cx="5238750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24600" y="5124450"/>
            <a:ext cx="389572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4600" y="5353050"/>
            <a:ext cx="381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F2B22"/>
                </a:solidFill>
                <a:latin typeface="IBM Plex Mono"/>
              </a:rPr>
              <a:t>Carbon · persistence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5000" y="5353050"/>
            <a:ext cx="20383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2F2B22"/>
                </a:solidFill>
                <a:latin typeface="IBM Plex Mono"/>
              </a:rPr>
              <a:t>13.4 g/kWh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24600" y="5524500"/>
            <a:ext cx="5238750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4600" y="5524500"/>
            <a:ext cx="4676775" cy="7620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4600" y="5753100"/>
            <a:ext cx="381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F2B22"/>
                </a:solidFill>
                <a:latin typeface="IBM Plex Mono"/>
              </a:rPr>
              <a:t>Carbon · pgvector analog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5000" y="5753100"/>
            <a:ext cx="20383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2F2B22"/>
                </a:solidFill>
                <a:latin typeface="IBM Plex Mono"/>
              </a:rPr>
              <a:t>11.1 g/kWh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24600" y="5924550"/>
            <a:ext cx="5238750" cy="7620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24600" y="5924550"/>
            <a:ext cx="3876675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B9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A7262"/>
                </a:solidFill>
                <a:latin typeface="IBM Plex Mono"/>
              </a:rPr>
              <a:t>Accel AI Innovate Paris · Data-Centric Agents · built on Aiven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2500" y="6534150"/>
            <a:ext cx="31623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>
                <a:solidFill>
                  <a:srgbClr val="1E7A3C"/>
                </a:solidFill>
                <a:latin typeface="IBM Plex Mono"/>
              </a:rPr>
              <a:t>01a162cc-…-8080.eur-1.aiven.app 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1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57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2B22"/>
                </a:solidFill>
                <a:latin typeface="Arial"/>
              </a:rPr>
              <a:t>WINDFALL</a:t>
            </a:r>
            <a:r>
              <a:rPr sz="850" b="0">
                <a:solidFill>
                  <a:srgbClr val="7A7262"/>
                </a:solidFill>
                <a:latin typeface="IBM Plex Mono"/>
              </a:rPr>
              <a:t>   │  ENERGY AUTOPILOT FOR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304800"/>
            <a:ext cx="4305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E7A3C"/>
                </a:solidFill>
                <a:latin typeface="IBM Plex Mono"/>
              </a:rPr>
              <a:t>06 / WHY US,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2950"/>
            <a:ext cx="11239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1">
                <a:solidFill>
                  <a:srgbClr val="2F2B22"/>
                </a:solidFill>
                <a:latin typeface="Arial"/>
              </a:rPr>
              <a:t>SAME POWER.</a:t>
            </a:r>
          </a:p>
          <a:p>
            <a:pPr algn="l">
              <a:lnSpc>
                <a:spcPct val="90000"/>
              </a:lnSpc>
            </a:pPr>
            <a:r>
              <a:rPr sz="4000" b="1">
                <a:solidFill>
                  <a:srgbClr val="1E7A3C"/>
                </a:solidFill>
                <a:latin typeface="Arial"/>
              </a:rPr>
              <a:t>CHEAPER, CLEANER HOURS.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95550"/>
            <a:ext cx="3657600" cy="2381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2667000"/>
            <a:ext cx="3333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E7A3C"/>
                </a:solidFill>
                <a:latin typeface="IBM Plex Mono"/>
              </a:rPr>
              <a:t>[ 01 ] WHO IT'S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933700"/>
            <a:ext cx="3295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F2B22"/>
                </a:solidFill>
                <a:latin typeface="IBM Plex Mono"/>
              </a:rPr>
              <a:t>Cold-chain SMEs: food logistics, bakeries, butchers, pharma depots. Tens of thousands of euros a year on power, flexible load, and no energy team.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2495550"/>
            <a:ext cx="3657600" cy="2381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7700" y="2667000"/>
            <a:ext cx="3333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E7A3C"/>
                </a:solidFill>
                <a:latin typeface="IBM Plex Mono"/>
              </a:rPr>
              <a:t>[ 02 ] 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2933700"/>
            <a:ext cx="3295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F2B22"/>
                </a:solidFill>
                <a:latin typeface="IBM Plex Mono"/>
              </a:rPr>
              <a:t>France and the EU run on 15-min dynamic prices; negative-price hours are routine. CSRD makes SMEs’ clients ask for carbon numbers. Delivery fleets are going electric.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0" y="2495550"/>
            <a:ext cx="3657600" cy="238125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7700" y="2667000"/>
            <a:ext cx="3333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E7A3C"/>
                </a:solidFill>
                <a:latin typeface="IBM Plex Mono"/>
              </a:rPr>
              <a:t>[ 03 ] FIRST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700" y="2933700"/>
            <a:ext cx="3295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F2B22"/>
                </a:solidFill>
                <a:latin typeface="IBM Plex Mono"/>
              </a:rPr>
              <a:t>Rungis market (~1,200 food companies on one site) as the beachhead. Free audit = our backtest on their meter data. Paid as a share of savings; sold through electricity suppliers and charge-point installers.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67300"/>
            <a:ext cx="11277600" cy="114300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5219700"/>
            <a:ext cx="1085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262"/>
                </a:solidFill>
                <a:latin typeface="IBM Plex Mono"/>
              </a:rPr>
              <a:t>POINT OF DIFFERENCE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5448300"/>
            <a:ext cx="10858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2B22"/>
                </a:solidFill>
                <a:latin typeface="Arial"/>
              </a:rPr>
              <a:t>Not a dashboard: agents that act on live data, remember every past day, and learn each site’s physics — with a searchable audit trail that doubles as CSRD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B9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A7262"/>
                </a:solidFill>
                <a:latin typeface="IBM Plex Mono"/>
              </a:rPr>
              <a:t>Accel AI Innovate Paris · Data-Centric Agents · built on Aiven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0" y="6534150"/>
            <a:ext cx="31623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>
                <a:solidFill>
                  <a:srgbClr val="1E7A3C"/>
                </a:solidFill>
                <a:latin typeface="IBM Plex Mono"/>
              </a:rPr>
              <a:t>01a162cc-…-8080.eur-1.aiven.app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1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57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2B22"/>
                </a:solidFill>
                <a:latin typeface="Arial"/>
              </a:rPr>
              <a:t>WINDFALL</a:t>
            </a:r>
            <a:r>
              <a:rPr sz="850" b="0">
                <a:solidFill>
                  <a:srgbClr val="7A7262"/>
                </a:solidFill>
                <a:latin typeface="IBM Plex Mono"/>
              </a:rPr>
              <a:t>   │  ENERGY AUTOPILOT FOR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304800"/>
            <a:ext cx="4305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E7A3C"/>
                </a:solidFill>
                <a:latin typeface="IBM Plex Mono"/>
              </a:rPr>
              <a:t>07 / WHO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2950"/>
            <a:ext cx="11239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1">
                <a:solidFill>
                  <a:srgbClr val="2F2B22"/>
                </a:solidFill>
                <a:latin typeface="Arial"/>
              </a:rPr>
              <a:t>BUILT IN ONE DAY</a:t>
            </a:r>
          </a:p>
          <a:p>
            <a:pPr algn="l">
              <a:lnSpc>
                <a:spcPct val="90000"/>
              </a:lnSpc>
            </a:pPr>
            <a:r>
              <a:rPr sz="4000" b="1">
                <a:solidFill>
                  <a:srgbClr val="1E7A3C"/>
                </a:solidFill>
                <a:latin typeface="Arial"/>
              </a:rPr>
              <a:t>BY WILIAMS LOPES.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95550"/>
            <a:ext cx="2857500" cy="342900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9555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955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249555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5650" y="24955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90550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8102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590550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5650" y="58102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5550"/>
            <a:ext cx="2857500" cy="3429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249555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955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249555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5650" y="24955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90550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102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590550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5650" y="58102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vb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2495550"/>
            <a:ext cx="1809750" cy="895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14750" y="2495550"/>
            <a:ext cx="800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F2B22"/>
                </a:solidFill>
                <a:latin typeface="Arial"/>
              </a:rPr>
              <a:t>WILIAMS LOPES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4750" y="2914650"/>
            <a:ext cx="800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7A3C"/>
                </a:solidFill>
                <a:latin typeface="IBM Plex Mono"/>
              </a:rPr>
              <a:t>Founder · builder of Windfall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4750" y="3276600"/>
            <a:ext cx="8001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262"/>
                </a:solidFill>
                <a:latin typeface="IBM Plex Mono"/>
              </a:rPr>
              <a:t>EDUCATION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4750" y="3429000"/>
            <a:ext cx="7810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F2B22"/>
                </a:solidFill>
                <a:latin typeface="IBM Plex Mono"/>
              </a:rPr>
              <a:t>M1 Financial Engineering &amp; Mathematics, ESILV.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4750" y="4000500"/>
            <a:ext cx="8001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262"/>
                </a:solidFill>
                <a:latin typeface="IBM Plex Mono"/>
              </a:rPr>
              <a:t>COMMUNITY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14750" y="4152900"/>
            <a:ext cx="7810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F2B22"/>
                </a:solidFill>
                <a:latin typeface="IBM Plex Mono"/>
              </a:rPr>
              <a:t>Events Lead at DeVinci Blockchain (DVB), the Web3 association of De Vinci Higher Education. Organises the association’s events and represents DVB at hackathons.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4750" y="4724400"/>
            <a:ext cx="8001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262"/>
                </a:solidFill>
                <a:latin typeface="IBM Plex Mono"/>
              </a:rPr>
              <a:t>WHY ENERGY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4750" y="4876800"/>
            <a:ext cx="7810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F2B22"/>
                </a:solidFill>
                <a:latin typeface="IBM Plex Mono"/>
              </a:rPr>
              <a:t>Quant background meets the energy transition: prices, optimisation and data are the same toolkit — pointed at a cleaner grid.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14750" y="5448300"/>
            <a:ext cx="8001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262"/>
                </a:solidFill>
                <a:latin typeface="IBM Plex Mono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4750" y="5600700"/>
            <a:ext cx="7810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F2B22"/>
                </a:solidFill>
                <a:latin typeface="IBM Plex Mono"/>
              </a:rPr>
              <a:t>linkedin.com/in/wiliams-lopes-3382921ba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38900"/>
            <a:ext cx="11277600" cy="9525"/>
          </a:xfrm>
          <a:prstGeom prst="rect">
            <a:avLst/>
          </a:prstGeom>
          <a:solidFill>
            <a:srgbClr val="B9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A7262"/>
                </a:solidFill>
                <a:latin typeface="IBM Plex Mono"/>
              </a:rPr>
              <a:t>Accel AI Innovate Paris · Data-Centric Agents · built on Aiven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2500" y="6534150"/>
            <a:ext cx="31623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>
                <a:solidFill>
                  <a:srgbClr val="1E7A3C"/>
                </a:solidFill>
                <a:latin typeface="IBM Plex Mono"/>
              </a:rPr>
              <a:t>01a162cc-…-8080.eur-1.aiven.app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
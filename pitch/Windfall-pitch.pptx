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1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57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2B22"/>
                </a:solidFill>
                <a:latin typeface="Arial"/>
              </a:rPr>
              <a:t>WINDFALL</a:t>
            </a:r>
            <a:r>
              <a:rPr sz="900" b="0">
                <a:solidFill>
                  <a:srgbClr val="7A7262"/>
                </a:solidFill>
                <a:latin typeface="IBM Plex Mono"/>
              </a:rPr>
              <a:t>   │  ENERGY AUTOPILOT FOR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304800"/>
            <a:ext cx="4305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7A7262"/>
                </a:solidFill>
                <a:latin typeface="IBM Plex Mono"/>
              </a:rPr>
              <a:t>ACCEL AI INNOVATE PARIS · DATA-CENTRIC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6750"/>
            <a:ext cx="7429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2F2B22"/>
                </a:solidFill>
                <a:latin typeface="Arial"/>
              </a:rPr>
              <a:t>SAME POWER.</a:t>
            </a:r>
          </a:p>
          <a:p>
            <a:pPr algn="l">
              <a:lnSpc>
                <a:spcPct val="90000"/>
              </a:lnSpc>
            </a:pPr>
            <a:r>
              <a:rPr sz="4000" b="1">
                <a:solidFill>
                  <a:srgbClr val="1E7A3C"/>
                </a:solidFill>
                <a:latin typeface="Arial"/>
              </a:rPr>
              <a:t>CHEAPER, CLEANER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6900"/>
            <a:ext cx="7048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E5747"/>
                </a:solidFill>
                <a:latin typeface="IBM Plex Mono"/>
              </a:rPr>
              <a:t>Five AI agents move a small business's flexible load (freezers, e-vans) into the hours when the grid is full of sun and wind, and never break the cold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1950" y="628650"/>
            <a:ext cx="3752850" cy="17716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0" y="685800"/>
            <a:ext cx="3524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A7262"/>
                </a:solidFill>
                <a:latin typeface="IBM Plex Mono"/>
              </a:rPr>
              <a:t>DAY-AHEAD PRICE · FRANCE · REAL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625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625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625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6250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625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625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625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625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625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625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62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62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9125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9125" y="198120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9125" y="1885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9125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912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912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391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391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91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91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91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91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82000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82000" y="198120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82000" y="1885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2000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200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8200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8200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8200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8200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820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820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820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24875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4875" y="198120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24875" y="18859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24875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2487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2487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2487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2487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2487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2487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2487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248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6775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6775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775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67750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66775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775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6775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6775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6775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6775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677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677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1062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1062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062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10625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10625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1062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8106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106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8106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106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106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106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53500" y="2076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53500" y="1981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53500" y="1885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53500" y="1790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53500" y="1695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53500" y="1600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953500" y="1504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53500" y="1409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53500" y="1314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535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9535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535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96375" y="2076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96375" y="1981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96375" y="1885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96375" y="1790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96375" y="1695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096375" y="1600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96375" y="1504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96375" y="1409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96375" y="1314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96375" y="1219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96375" y="1123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963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39250" y="2076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39250" y="1981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39250" y="1885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39250" y="1790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39250" y="1695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39250" y="1600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39250" y="1504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239250" y="1409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39250" y="1314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239250" y="1219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392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2392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38212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38212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38212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382125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382125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382125" y="1600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3821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3821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3821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3821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3821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3821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2500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52500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2500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525000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525000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525000" y="1600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52500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2500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52500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5250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5250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5250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66787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66787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66787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667875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66787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66787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66787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6787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66787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66787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66787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6678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81075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81075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81075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810750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81075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81075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81075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1075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81075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81075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8107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8107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953625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953625" y="198120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3625" y="18859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953625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95362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95362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9536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9536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9536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9536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9536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9536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096500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096500" y="198120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096500" y="18859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096500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09650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09650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09650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09650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09650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0965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00965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0965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23937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23937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23937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239375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23937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23937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23937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023937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23937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23937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23937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2393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038225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038225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038225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0382250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38225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38225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38225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38225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38225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38225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3822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3822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52512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52512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52512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525125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525125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525125" y="1600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5251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5251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5251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5251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5251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5251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66800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66800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66800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668000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668000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0668000" y="1600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668000" y="1504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66800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66800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6680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6680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6680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810875" y="2076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810875" y="1981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810875" y="1885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810875" y="1790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810875" y="1695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810875" y="1600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810875" y="1504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810875" y="1409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810875" y="1314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810875" y="1219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810875" y="1123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8108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953750" y="2076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953750" y="1981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953750" y="1885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953750" y="1790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953750" y="1695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953750" y="1600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953750" y="15049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953750" y="14097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953750" y="131445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953750" y="1219200"/>
            <a:ext cx="114300" cy="57150"/>
          </a:xfrm>
          <a:prstGeom prst="rect">
            <a:avLst/>
          </a:prstGeom>
          <a:solidFill>
            <a:srgbClr val="B4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95375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95375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096625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1096625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1096625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1096625" y="17907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096625" y="1695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1096625" y="1600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109662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09662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109662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109662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09662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09662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239500" y="20764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239500" y="198120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239500" y="1885950"/>
            <a:ext cx="114300" cy="571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239500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239500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239500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1239500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1239500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1239500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239500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239500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239500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382375" y="2076450"/>
            <a:ext cx="114300" cy="5715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1382375" y="1981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1382375" y="1885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1382375" y="1790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382375" y="1695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1382375" y="1600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1382375" y="1504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1382375" y="1409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1382375" y="13144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1382375" y="12192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1382375" y="112395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1382375" y="1028700"/>
            <a:ext cx="114300" cy="57150"/>
          </a:xfrm>
          <a:prstGeom prst="rect">
            <a:avLst/>
          </a:prstGeom>
          <a:solidFill>
            <a:srgbClr val="DD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8096250" y="2247900"/>
            <a:ext cx="3524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E7A3C"/>
                </a:solidFill>
                <a:latin typeface="IBM Plex Mono"/>
              </a:rPr>
              <a:t>■ </a:t>
            </a:r>
            <a:r>
              <a:rPr sz="700" b="0">
                <a:solidFill>
                  <a:srgbClr val="7A7262"/>
                </a:solidFill>
                <a:latin typeface="IBM Plex Mono"/>
              </a:rPr>
              <a:t>cheapest: Windfall loads   </a:t>
            </a:r>
            <a:r>
              <a:rPr sz="700" b="0">
                <a:solidFill>
                  <a:srgbClr val="B4441A"/>
                </a:solidFill>
                <a:latin typeface="IBM Plex Mono"/>
              </a:rPr>
              <a:t>■ </a:t>
            </a:r>
            <a:r>
              <a:rPr sz="700" b="0">
                <a:solidFill>
                  <a:srgbClr val="7A7262"/>
                </a:solidFill>
                <a:latin typeface="IBM Plex Mono"/>
              </a:rPr>
              <a:t>peak: Windfall avoids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57200" y="2781300"/>
            <a:ext cx="3657600" cy="15240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28650" y="29146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E7A3C"/>
                </a:solidFill>
                <a:latin typeface="IBM Plex Mono"/>
              </a:rPr>
              <a:t>[ 01 ] WHO IT'S FOR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28650" y="3124200"/>
            <a:ext cx="333375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2B22"/>
                </a:solidFill>
                <a:latin typeface="IBM Plex Mono"/>
              </a:rPr>
              <a:t>Cold-chain SMEs: food logistics, bakeries, butchers, pharma depots. They pay tens of thousands of euros a year for power, have flexible load, and no energy team.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4267200" y="2781300"/>
            <a:ext cx="3657600" cy="15240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4438650" y="29146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E7A3C"/>
                </a:solidFill>
                <a:latin typeface="IBM Plex Mono"/>
              </a:rPr>
              <a:t>[ 02 ] WHY NOW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438650" y="3124200"/>
            <a:ext cx="333375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2B22"/>
                </a:solidFill>
                <a:latin typeface="IBM Plex Mono"/>
              </a:rPr>
              <a:t>France and the EU run on 15-min dynamic prices; negative-price hours are now routine (23 in 41 days). CSRD makes SMEs' clients ask for carbon numbers. Fleets are going electric.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8077200" y="2781300"/>
            <a:ext cx="3657600" cy="1524000"/>
          </a:xfrm>
          <a:prstGeom prst="rect">
            <a:avLst/>
          </a:prstGeom>
          <a:noFill/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248650" y="29146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E7A3C"/>
                </a:solidFill>
                <a:latin typeface="IBM Plex Mono"/>
              </a:rPr>
              <a:t>[ 03 ] FIRST USERS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248650" y="3124200"/>
            <a:ext cx="333375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2B22"/>
                </a:solidFill>
                <a:latin typeface="IBM Plex Mono"/>
              </a:rPr>
              <a:t>Rungis market (~1,200 food companies on one site) as the beachhead. Sell through electricity suppliers &amp; charge-point installers; free audit = our backtest on their meter data, paid on % of savings.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57200" y="4476750"/>
            <a:ext cx="11277600" cy="1123950"/>
          </a:xfrm>
          <a:prstGeom prst="rect">
            <a:avLst/>
          </a:prstGeom>
          <a:solidFill>
            <a:srgbClr val="EFE8D6"/>
          </a:solidFill>
          <a:ln w="9525">
            <a:solidFill>
              <a:srgbClr val="B9A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628650" y="45910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A7262"/>
                </a:solidFill>
                <a:latin typeface="IBM Plex Mono"/>
              </a:rPr>
              <a:t>EVIDENCE · 41 REAL DAYS OF FRENCH MARKET DATA, REPLAYED vs. A NAIVE SITE (thermostat + charge-on-plug)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28650" y="47815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7A3C"/>
                </a:solidFill>
                <a:latin typeface="Arial"/>
              </a:rPr>
              <a:t>−22%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628650" y="51816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energy cost
≈ €13.9k / yr / site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857500" y="47815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7A3C"/>
                </a:solidFill>
                <a:latin typeface="Arial"/>
              </a:rPr>
              <a:t>−17%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857500" y="51816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CO₂ (location-based)
2.6 t / yr / site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086350" y="47815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F2B22"/>
                </a:solidFill>
                <a:latin typeface="Arial"/>
              </a:rPr>
              <a:t>156→101 kW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086350" y="51816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peak · 62 h → 0 h
over the subscription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315200" y="47815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F2B22"/>
                </a:solidFill>
                <a:latin typeface="Arial"/>
              </a:rPr>
              <a:t>0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315200" y="51816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cold-chain breaches
100% vans ready 06:00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9544050" y="47815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F2B22"/>
                </a:solidFill>
                <a:latin typeface="Arial"/>
              </a:rPr>
              <a:t>88→0%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544050" y="51816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E5747"/>
                </a:solidFill>
                <a:latin typeface="IBM Plex Mono"/>
              </a:rPr>
              <a:t>model error · the
Learner gets better nightly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457200" y="5753100"/>
            <a:ext cx="11277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E7A3C"/>
                </a:solidFill>
                <a:latin typeface="IBM Plex Mono"/>
              </a:rPr>
              <a:t>RUNS ON AIVEN</a:t>
            </a:r>
            <a:r>
              <a:rPr sz="750" b="0">
                <a:solidFill>
                  <a:srgbClr val="2F2B22"/>
                </a:solidFill>
                <a:latin typeface="IBM Plex Mono"/>
              </a:rPr>
              <a:t>   Runtime (app) · Kafka (telemetry → Watcher) · ClickHouse (history → Learner) · Postgres+pgvector (day memory → Forecaster) · Valkey (live state) · OpenSearch (audit → CSRD)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57200" y="5962650"/>
            <a:ext cx="11277600" cy="9525"/>
          </a:xfrm>
          <a:prstGeom prst="rect">
            <a:avLst/>
          </a:prstGeom>
          <a:solidFill>
            <a:srgbClr val="B9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57200" y="60960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A7262"/>
                </a:solidFill>
                <a:latin typeface="IBM Plex Mono"/>
              </a:rPr>
              <a:t>Agents: Forecaster · Planner · Watcher · Learner · Auditor   |   Claude explains, the maths decides   |   Keenable grid news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572500" y="6096000"/>
            <a:ext cx="3162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1E7A3C"/>
                </a:solidFill>
                <a:latin typeface="IBM Plex Mono"/>
              </a:rPr>
              <a:t>01a162cc-…-8080.eur-1.aiven.app  ↗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981950" y="6286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981950" y="6286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1620500" y="6286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1715750" y="62865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981950" y="23812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981950" y="228600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1620500" y="2381250"/>
            <a:ext cx="114300" cy="1905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1715750" y="2286000"/>
            <a:ext cx="19050" cy="114300"/>
          </a:xfrm>
          <a:prstGeom prst="rect">
            <a:avLst/>
          </a:prstGeom>
          <a:solidFill>
            <a:srgbClr val="2F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